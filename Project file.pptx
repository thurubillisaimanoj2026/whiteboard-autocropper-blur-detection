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jp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9" r:id="rId3"/>
    <p:sldId id="281" r:id="rId4"/>
    <p:sldId id="270" r:id="rId5"/>
    <p:sldId id="271" r:id="rId6"/>
    <p:sldId id="274" r:id="rId7"/>
    <p:sldId id="277" r:id="rId8"/>
    <p:sldId id="278" r:id="rId9"/>
    <p:sldId id="273" r:id="rId10"/>
    <p:sldId id="280" r:id="rId11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7.xml" Id="rId8" /><Relationship Type="http://schemas.openxmlformats.org/officeDocument/2006/relationships/slide" Target="/ppt/slides/slide12.xml" Id="rId13" /><Relationship Type="http://schemas.openxmlformats.org/officeDocument/2006/relationships/theme" Target="/ppt/theme/theme1.xml" Id="rId18" /><Relationship Type="http://schemas.openxmlformats.org/officeDocument/2006/relationships/slide" Target="/ppt/slides/slide2.xml" Id="rId3" /><Relationship Type="http://schemas.openxmlformats.org/officeDocument/2006/relationships/slide" Target="/ppt/slides/slide6.xml" Id="rId7" /><Relationship Type="http://schemas.openxmlformats.org/officeDocument/2006/relationships/viewProps" Target="/ppt/viewProps.xml" Id="rId17" /><Relationship Type="http://schemas.openxmlformats.org/officeDocument/2006/relationships/presProps" Target="/ppt/presProps.xml" Id="rId16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6" /><Relationship Type="http://schemas.openxmlformats.org/officeDocument/2006/relationships/slide" Target="/ppt/slides/slide10.xml" Id="rId11" /><Relationship Type="http://schemas.openxmlformats.org/officeDocument/2006/relationships/slide" Target="/ppt/slides/slide4.xml" Id="rId5" /><Relationship Type="http://schemas.openxmlformats.org/officeDocument/2006/relationships/notesMaster" Target="/ppt/notesMasters/notesMaster1.xml" Id="rId15" /><Relationship Type="http://schemas.openxmlformats.org/officeDocument/2006/relationships/slide" Target="/ppt/slides/slide9.xml" Id="rId10" /><Relationship Type="http://schemas.openxmlformats.org/officeDocument/2006/relationships/tableStyles" Target="/ppt/tableStyles.xml" Id="rId19" /><Relationship Type="http://schemas.openxmlformats.org/officeDocument/2006/relationships/slide" Target="/ppt/slides/slide3.xml" Id="rId4" /><Relationship Type="http://schemas.openxmlformats.org/officeDocument/2006/relationships/slide" Target="/ppt/slides/slide8.xml" Id="rI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75BE67-6BF9-4071-98BC-B8ACB767E75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1C1CA5-C97B-4104-B28C-3D02840C0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365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6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C1CA5-C97B-4104-B28C-3D02840C067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478505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E5930-293F-C478-0F59-D80FB653F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980AB0-8682-4CAA-3415-6A4DBA486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F88F4-5C5B-86FE-E8DD-7C8C68666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534AB-D596-55A2-1C4F-099C8D17E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7EF77-207F-311B-EF3A-E691EEF68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302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E2891-D56E-1B1B-52C4-28B325A17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B39D9-A8DF-591A-ABFB-BB0B2A46A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0040F-F04D-5616-072D-84ADD235A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DE7F0-E318-0248-91C5-2ECDA7257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DAF52-5641-88ED-BC25-AA87F66F7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388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33D0C-F731-26FC-56DE-B8035E098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D02B6-F514-AB4D-9C00-FFCAB7CA2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8ADF0-97F2-3C37-9DF8-2F81B0349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38FCC-AC68-A045-7052-40F17F92D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BD1DC-D79C-9F34-DA90-359F81485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761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9730D-6473-5EDC-BFE9-F79D77E36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58FA3-5B31-729B-FBA4-7EAE5E75D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A7A9D9-AA3D-F162-085E-D62BDAFC2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A7FB2-BA38-7FDB-D3DE-03DFCFC16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BAD9D-F44C-4D36-2493-90F6D630E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4061D-A189-472B-D507-4600A3297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875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B7A3C-E164-F655-BE00-36DF58F76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E9356-F8A2-A72A-11EF-00A12FF65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D156F2-DF5D-0E36-623B-0F16A47A5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134A0-2764-3FDC-AAA8-0E1FDCF032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41FE3D-CCC0-8677-91AF-6211421B02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75FA07-C0AF-EF77-A903-46877E83C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483595-FA41-D15B-C79A-7E51952EF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5FBF08-E442-38CD-56F8-0EF7A53D9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52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AF3F6-3354-17F5-2B80-4A8D42147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8E659B-C0FA-0039-5E49-43C6D42F8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A02CC3-B0DA-6C60-E4CA-26798A099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B9BB6-33DE-4C1B-F2A1-73B553FDA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0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BA7F59-754C-81A7-18A6-6DADDFC79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9B74E3-F64F-1F74-B121-FA5A2D2A9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D41F4-8C98-58DA-1B30-6848B6A5F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749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B455F-2D2C-2258-D973-81F434007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AA4FF-312F-A655-E389-24532CA51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7B6639-8689-1BF2-C9DA-7C8E2545C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353E4-ACDB-AC40-F36C-A44B6A24F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CB58F-C40C-92FE-7A16-D3CDF92FC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24E84-62C1-8898-712D-2FFE7F9DD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9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4ED48-C768-4C92-CFD9-46B6F7F61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80BAB8-B529-F739-1D4A-99829FAD0C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B19DB-EEE8-72BE-5689-C6CC0E1D8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5C87D-6C4B-99F4-60A3-F794B9D9B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2D3798-52E8-1EBF-C4F7-DF99C9A92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13D85-9822-256E-4B0B-D2080E3E6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122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FEF3F-CB6F-1CD9-947F-7A7B50BD9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797EAD-949C-EC38-F73E-7FD09C6C8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03B49-9A25-8EC0-E045-93DCE73ED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4B5B9-EF2B-DD37-1143-5243CBC2D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939C0-506F-76CA-0AF0-1B6D33DE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186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2FA8ED-A59B-678A-4F67-67E19015B6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EBA3B3-647B-3D8B-8609-84C700A2F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A1341-F9CE-80A0-A1D3-2CCAFDA71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46E71-9F35-830B-F82C-34B9316AD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7FAAE-6F73-61C5-2C2C-255A2BAF6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61031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11.xml" Id="rId11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9.xml" Id="rId9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71E2A6-D41B-4E90-7B6B-7F58DC6E8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CC69D-4CAC-8944-B28B-DF6303862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BFA49-1D24-7B40-4AB9-F2D66ED8B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24BB1-501B-4BD4-BA11-B56D07D79D6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D07D8-B64E-8712-9BFA-BE38FE9311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173F2-C28F-C14E-5BA4-8475696B9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63D55-1E1F-42B3-9539-F98231BC2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57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2.xml" Id="rI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3.jpg" Id="rId3" /><Relationship Type="http://schemas.openxmlformats.org/officeDocument/2006/relationships/image" Target="/ppt/media/image2.png" Id="rId2" /><Relationship Type="http://schemas.openxmlformats.org/officeDocument/2006/relationships/slideLayout" Target="/ppt/slideLayouts/slideLayout2.xml" Id="rI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5.png" Id="rId3" /><Relationship Type="http://schemas.openxmlformats.org/officeDocument/2006/relationships/image" Target="/ppt/media/image4.jpg" Id="rId2" /><Relationship Type="http://schemas.openxmlformats.org/officeDocument/2006/relationships/slideLayout" Target="/ppt/slideLayouts/slideLayout1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hyperlink" Target="https://link.springer.com/article/10.1007/s11042-023-16736-5" TargetMode="External" Id="rId3" /><Relationship Type="http://schemas.openxmlformats.org/officeDocument/2006/relationships/hyperlink" Target="https://link.springer.com/article/10.1007/s10462-023-10631-z" TargetMode="External" Id="rId2" /><Relationship Type="http://schemas.openxmlformats.org/officeDocument/2006/relationships/hyperlink" Target="https://www.e3s-conferences.org/articles/e3sconf/pdf/2023/67/e3sconf_icmpc2023_01052.pdf" TargetMode="External" Id="rId5" /><Relationship Type="http://schemas.openxmlformats.org/officeDocument/2006/relationships/hyperlink" Target="https://universe.roboflow.com/paul-artushkov/whiteboards-detection" TargetMode="External" Id="rId4" 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E7315-BFDD-56CE-F18E-D0A69A6DC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" y="365125"/>
            <a:ext cx="10970342" cy="1325563"/>
          </a:xfrm>
        </p:spPr>
        <p:txBody>
          <a:bodyPr>
            <a:normAutofit/>
          </a:bodyPr>
          <a:lstStyle/>
          <a:p>
            <a:r>
              <a:rPr lang="en-IN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96D88-9839-90BF-9402-ADD2045CE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574" y="1621862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Digitizing handwritten whiteboard notes is crucial for students, educators, and remote workers</a:t>
            </a:r>
          </a:p>
          <a:p>
            <a:pPr fontAlgn="base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capturing often results in angle distortions, blur, and poor quality images.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Automating whiteboard detection and cropping can simplify note digitization.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aims to build a user-friendly interface that extracts clean images even under challenging conditions.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whiteboard photos often suffer from perspective distortion, noise, artifacts, and inconsistent illumination. Existing manual cropping and enhancement techniques are time-consuming and error-prone. Automated solutions using computer vision can detect the whiteboard region, correct the image perspective, remove artifacts, and enhance visual quality to make content more readable and digitally accessible.</a:t>
            </a:r>
          </a:p>
          <a:p>
            <a:pPr marL="0" indent="0" fontAlgn="base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374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D5336-5A63-EC20-B5FB-295DEFB2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129" y="365125"/>
            <a:ext cx="11009671" cy="1325563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&amp; Problem Statement</a:t>
            </a:r>
            <a:endParaRPr lang="en-IN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065C0-3562-69C6-2355-CEE2821CC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245" y="1690688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like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CamScanner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 well for flat documents but fail on angled or reflective whiteboards.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Reflections, smudges, and irregular edges reduce text clarity.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adaptive image enhancement based on lighting or blur.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apps struggle to detect and crop whiteboard boundaries.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find it difficult to capture clear notes from whiteboards.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an automated system that detects, enhances, and extracts handwritten text accurately.</a:t>
            </a:r>
          </a:p>
        </p:txBody>
      </p:sp>
    </p:spTree>
    <p:extLst>
      <p:ext uri="{BB962C8B-B14F-4D97-AF65-F5344CB8AC3E}">
        <p14:creationId xmlns:p14="http://schemas.microsoft.com/office/powerpoint/2010/main" val="2026127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9C949-ACFF-BF5D-101D-940521C59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896" y="361355"/>
            <a:ext cx="10515600" cy="1003553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&amp; Scope</a:t>
            </a:r>
            <a:endParaRPr lang="en-IN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6537EE-4AD1-44A5-43CF-608A252FA125}"/>
              </a:ext>
            </a:extLst>
          </p:cNvPr>
          <p:cNvSpPr txBox="1"/>
          <p:nvPr/>
        </p:nvSpPr>
        <p:spPr>
          <a:xfrm>
            <a:off x="408220" y="992691"/>
            <a:ext cx="11001935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 b="1" dirty="0"/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detect whiteboards and correct perspective distortion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image readability by increasing contrast by at least 30% using CLAHE and thresholding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whiteboard region detection accuracy of at least 90% on a varied image dataset.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three quality modes: High Quality PNG, Web Optimized, and Original Size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intuitive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 for upload, preview, and download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still whiteboard images. Future extensions may include OCR-based text extraction and cloud-based access.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33337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9C949-ACFF-BF5D-101D-940521C59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4" y="409347"/>
            <a:ext cx="8101781" cy="1003553"/>
          </a:xfrm>
        </p:spPr>
        <p:txBody>
          <a:bodyPr>
            <a:normAutofit/>
          </a:bodyPr>
          <a:lstStyle/>
          <a:p>
            <a:r>
              <a:rPr lang="en-US" sz="4000" b="1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40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ethodology</a:t>
            </a:r>
            <a:r>
              <a:rPr lang="en-IN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System design</a:t>
            </a:r>
            <a:endParaRPr lang="en-IN" sz="4000" b="1" u="sng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36BB2F-D9C4-4655-B984-BAA5E85108A8}"/>
              </a:ext>
            </a:extLst>
          </p:cNvPr>
          <p:cNvSpPr txBox="1"/>
          <p:nvPr/>
        </p:nvSpPr>
        <p:spPr>
          <a:xfrm>
            <a:off x="629264" y="1544622"/>
            <a:ext cx="10933471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Upload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selects and uploads a whiteboard image via the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 interface.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image is converted to grayscale, enhanced with CLAHE for contrast, and denoised with filtering techniques.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Whiteboard Detection-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contour detection and cropping isolate the whiteboard region for focused processing.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Enhancement-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Adaptive thresholding and normalization are applied for clean, sharp text extraction.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OCR Extraction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enhanced image is analyzed by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EasyOCR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extract textual content accurately, including handwritten notes.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image and extracted text are displayed for user review, copying, or download.</a:t>
            </a:r>
          </a:p>
        </p:txBody>
      </p:sp>
    </p:spTree>
    <p:extLst>
      <p:ext uri="{BB962C8B-B14F-4D97-AF65-F5344CB8AC3E}">
        <p14:creationId xmlns:p14="http://schemas.microsoft.com/office/powerpoint/2010/main" val="2204048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9C949-ACFF-BF5D-101D-940521C59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032" y="292530"/>
            <a:ext cx="10515600" cy="1003553"/>
          </a:xfrm>
        </p:spPr>
        <p:txBody>
          <a:bodyPr>
            <a:normAutofit/>
          </a:bodyPr>
          <a:lstStyle/>
          <a:p>
            <a:r>
              <a:rPr lang="en-IN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6537EE-4AD1-44A5-43CF-608A252FA125}"/>
              </a:ext>
            </a:extLst>
          </p:cNvPr>
          <p:cNvSpPr txBox="1"/>
          <p:nvPr/>
        </p:nvSpPr>
        <p:spPr>
          <a:xfrm>
            <a:off x="595032" y="1296083"/>
            <a:ext cx="11001935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OpenCV, NumPy, PIL (Pillow),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EasyOCR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Framework: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and Techniques: Laplacian Variance, CLAHE, Otsu Thresholding, Gaussian Filtering </a:t>
            </a:r>
          </a:p>
        </p:txBody>
      </p:sp>
    </p:spTree>
    <p:extLst>
      <p:ext uri="{BB962C8B-B14F-4D97-AF65-F5344CB8AC3E}">
        <p14:creationId xmlns:p14="http://schemas.microsoft.com/office/powerpoint/2010/main" val="1666418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3F9EE-A3EC-1E98-A567-5AC1BDEA0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05" y="312514"/>
            <a:ext cx="6106885" cy="1325563"/>
          </a:xfrm>
        </p:spPr>
        <p:txBody>
          <a:bodyPr>
            <a:normAutofit/>
          </a:bodyPr>
          <a:lstStyle/>
          <a:p>
            <a:pPr algn="r"/>
            <a:r>
              <a:rPr lang="en-IN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86E6E-C3D8-ACCA-A2C4-2FAB75619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4507"/>
            <a:ext cx="1066799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Result 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                                                            After                                         </a:t>
            </a:r>
          </a:p>
          <a:p>
            <a:pPr marL="0" indent="0">
              <a:buNone/>
            </a:pPr>
            <a:r>
              <a:rPr lang="en-IN" sz="2000" dirty="0"/>
              <a:t>                                                             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EBB02D-D18A-B51F-B54A-518C857CB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885" y="3325666"/>
            <a:ext cx="4561114" cy="28794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4C65F8-B5B6-167B-AAAA-11A857E6E7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219106"/>
            <a:ext cx="4875439" cy="294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206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0405316-F587-C189-E2A8-D8FDA37A87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9344" y="435429"/>
            <a:ext cx="2792178" cy="795057"/>
          </a:xfrm>
        </p:spPr>
        <p:txBody>
          <a:bodyPr>
            <a:normAutofit/>
          </a:bodyPr>
          <a:lstStyle/>
          <a:p>
            <a:r>
              <a:rPr lang="en-IN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23880-BFAE-1849-50AD-30B712ED4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344" y="1600201"/>
            <a:ext cx="10733311" cy="4822370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3ADE86-133B-CEA0-A001-308C85658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1" y="2711245"/>
            <a:ext cx="5093110" cy="28046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191E50-FA92-499F-724C-4899F0F9F3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711245"/>
            <a:ext cx="4768645" cy="303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822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9C949-ACFF-BF5D-101D-940521C59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1" y="414646"/>
            <a:ext cx="10515600" cy="828348"/>
          </a:xfrm>
        </p:spPr>
        <p:txBody>
          <a:bodyPr>
            <a:noAutofit/>
          </a:bodyPr>
          <a:lstStyle/>
          <a:p>
            <a:r>
              <a:rPr lang="en-IN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/ Unique Contribution</a:t>
            </a:r>
            <a:br>
              <a:rPr lang="en-IN" sz="4000" b="1" u="sng" dirty="0"/>
            </a:br>
            <a:endParaRPr lang="en-IN" sz="4000" b="1" u="sng"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CB2C2D-9DB3-D1A4-E5FD-A7366964283C}"/>
              </a:ext>
            </a:extLst>
          </p:cNvPr>
          <p:cNvSpPr txBox="1"/>
          <p:nvPr/>
        </p:nvSpPr>
        <p:spPr>
          <a:xfrm>
            <a:off x="442451" y="953730"/>
            <a:ext cx="8642555" cy="4661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Enhancement Based on Blur Score: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selection of enhancement algorithm ensures consistent clarity.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OCR Extraction: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Easy-OCR to instantly convert handwritten/marker text to editable text.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Triple-Threshold Edge Detection: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contour detection in variable lighting.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 Processing Display: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blur score, enhancement method, and recognized text in real time.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upload–process–download flow with live preview.</a:t>
            </a:r>
          </a:p>
        </p:txBody>
      </p:sp>
    </p:spTree>
    <p:extLst>
      <p:ext uri="{BB962C8B-B14F-4D97-AF65-F5344CB8AC3E}">
        <p14:creationId xmlns:p14="http://schemas.microsoft.com/office/powerpoint/2010/main" val="160498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5A16F-DC17-99F7-7505-808C6F66D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349918"/>
            <a:ext cx="10515600" cy="1223244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80CB3-DCAA-776F-1DF4-20D8738F4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897" y="1253330"/>
            <a:ext cx="10515600" cy="5511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Whiteboard Auto-Cropper with OCR and Blur Detection successfully automates the entire process of: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and correcting perspective of whiteboards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visibility using adaptive algorithms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readable text through OCR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Handwriting Recognition Improvements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advanced deep learning OCR models to increase handwritten and multilingual text accuracy.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Integration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Android/iOS apps with the same enhancement and text extraction features for easy classroom or field usage</a:t>
            </a:r>
            <a:r>
              <a:rPr lang="en-US" sz="2000" dirty="0"/>
              <a:t>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57057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9C949-ACFF-BF5D-101D-940521C59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032" y="331859"/>
            <a:ext cx="10515600" cy="1003553"/>
          </a:xfrm>
        </p:spPr>
        <p:txBody>
          <a:bodyPr>
            <a:normAutofit/>
          </a:bodyPr>
          <a:lstStyle/>
          <a:p>
            <a:r>
              <a:rPr lang="en-IN" sz="4000" b="1" u="sng" dirty="0">
                <a:latin typeface="Times New Roman"/>
                <a:cs typeface="Times New Roman"/>
              </a:rPr>
              <a:t>References:</a:t>
            </a:r>
            <a:r>
              <a:rPr lang="en-IN" sz="4000" b="1" u="sng" dirty="0"/>
              <a:t>-</a:t>
            </a:r>
            <a:r>
              <a:rPr lang="en-IN" sz="4000" b="1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6537EE-4AD1-44A5-43CF-608A252FA125}"/>
              </a:ext>
            </a:extLst>
          </p:cNvPr>
          <p:cNvSpPr txBox="1"/>
          <p:nvPr/>
        </p:nvSpPr>
        <p:spPr>
          <a:xfrm>
            <a:off x="595032" y="1335412"/>
            <a:ext cx="11001935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u="sng" dirty="0">
                <a:hlinkClick r:id="rId2"/>
              </a:rPr>
              <a:t>Archana, R., Jeevaraj, P.S.E. Deep learning models for digital image processing: a review. </a:t>
            </a:r>
            <a:r>
              <a:rPr lang="en-IN" sz="2000" u="sng" dirty="0" err="1">
                <a:hlinkClick r:id="rId2"/>
              </a:rPr>
              <a:t>Artif</a:t>
            </a:r>
            <a:r>
              <a:rPr lang="en-IN" sz="2000" u="sng" dirty="0">
                <a:hlinkClick r:id="rId2"/>
              </a:rPr>
              <a:t> </a:t>
            </a:r>
            <a:r>
              <a:rPr lang="en-IN" sz="2000" u="sng" dirty="0" err="1">
                <a:hlinkClick r:id="rId2"/>
              </a:rPr>
              <a:t>Intell</a:t>
            </a:r>
            <a:r>
              <a:rPr lang="en-IN" sz="2000" u="sng" dirty="0">
                <a:hlinkClick r:id="rId2"/>
              </a:rPr>
              <a:t> Rev 57, 11 (2024)</a:t>
            </a:r>
            <a:endParaRPr lang="en-IN" sz="20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u="sng" dirty="0">
                <a:hlinkClick r:id="rId3"/>
              </a:rPr>
              <a:t>Yadav, S.P., Jindal, M., Rani, P. et al. An improved deep learning-based optimal object detection system from images. </a:t>
            </a:r>
            <a:r>
              <a:rPr lang="en-IN" sz="2000" u="sng" dirty="0" err="1">
                <a:hlinkClick r:id="rId3"/>
              </a:rPr>
              <a:t>Multimed</a:t>
            </a:r>
            <a:r>
              <a:rPr lang="en-IN" sz="2000" u="sng" dirty="0">
                <a:hlinkClick r:id="rId3"/>
              </a:rPr>
              <a:t> Tools </a:t>
            </a:r>
            <a:r>
              <a:rPr lang="en-IN" sz="2000" u="sng" dirty="0" err="1">
                <a:hlinkClick r:id="rId3"/>
              </a:rPr>
              <a:t>Appl</a:t>
            </a:r>
            <a:r>
              <a:rPr lang="en-IN" sz="2000" u="sng" dirty="0">
                <a:hlinkClick r:id="rId3"/>
              </a:rPr>
              <a:t> 83, 30045–30072 (2024).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u="sng" dirty="0">
              <a:hlinkClick r:id="rId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u="sng" dirty="0">
                <a:hlinkClick r:id="rId4"/>
              </a:rPr>
              <a:t>Whiteboards Detection Computer Vision Model</a:t>
            </a:r>
            <a:endParaRPr lang="en-IN" sz="2000" u="sng" dirty="0"/>
          </a:p>
          <a:p>
            <a:endParaRPr lang="en-IN" sz="20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u="sng" dirty="0">
                <a:hlinkClick r:id="rId5"/>
              </a:rPr>
              <a:t>Deep Learning based Automated Image</a:t>
            </a:r>
            <a:endParaRPr lang="en-US" sz="2000" dirty="0">
              <a:solidFill>
                <a:schemeClr val="tx2">
                  <a:lumMod val="50000"/>
                </a:schemeClr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67159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1736</TotalTime>
  <Words>866</Words>
  <Application>Microsoft Office PowerPoint</Application>
  <PresentationFormat>Widescreen</PresentationFormat>
  <Paragraphs>106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Introduction</vt:lpstr>
      <vt:lpstr>Literature Review &amp; Problem Statement</vt:lpstr>
      <vt:lpstr>Objectives &amp; Scope</vt:lpstr>
      <vt:lpstr>Methodology &amp; System design</vt:lpstr>
      <vt:lpstr>Tools and Technologies Used</vt:lpstr>
      <vt:lpstr>Results and Discussion </vt:lpstr>
      <vt:lpstr>New Result</vt:lpstr>
      <vt:lpstr>Innovation / Unique Contribution </vt:lpstr>
      <vt:lpstr> Conclusion &amp; Future Scope </vt:lpstr>
      <vt:lpstr>Individual Responsibilities &amp; Contributions</vt:lpstr>
      <vt:lpstr>References:-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Bhargav Prajwal Pathri</dc:creator>
  <cp:lastModifiedBy>Dheeraj Kumar</cp:lastModifiedBy>
  <cp:revision>420</cp:revision>
  <dcterms:created xsi:type="dcterms:W3CDTF">2025-01-17T09:26:04Z</dcterms:created>
  <dcterms:modified xsi:type="dcterms:W3CDTF">2025-11-06T06:18:18Z</dcterms:modified>
</cp:coreProperties>
</file>